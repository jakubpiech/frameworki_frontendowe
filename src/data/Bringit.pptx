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62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709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539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8404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9896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220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033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904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122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947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2315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4265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1159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7781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597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3327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27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98356C7-65BD-4890-BF6F-205DAF463B15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A33C7-DC60-4309-954B-83270135988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82858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with blue text and a box&#10;&#10;AI-generated content may be incorrect.">
            <a:extLst>
              <a:ext uri="{FF2B5EF4-FFF2-40B4-BE49-F238E27FC236}">
                <a16:creationId xmlns:a16="http://schemas.microsoft.com/office/drawing/2014/main" id="{BCCC6849-CF3C-E5DD-7DDE-F2F42A011B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0304" y="1123527"/>
            <a:ext cx="4604800" cy="46048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6544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creen shot of a phone&#10;&#10;AI-generated content may be incorrect.">
            <a:extLst>
              <a:ext uri="{FF2B5EF4-FFF2-40B4-BE49-F238E27FC236}">
                <a16:creationId xmlns:a16="http://schemas.microsoft.com/office/drawing/2014/main" id="{9030A963-673C-6F83-FEB3-6E577920B4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4845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5774-A188-A9EF-9714-202F60CCC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6323850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b="1" dirty="0"/>
              <a:t>Koncepcja:</a:t>
            </a:r>
            <a:r>
              <a:rPr lang="pl-PL" dirty="0"/>
              <a:t> Aplikacja mobilna łącząca klientów sklepów stacjonarnych </a:t>
            </a:r>
            <a:r>
              <a:rPr lang="pl-PL" i="1" dirty="0"/>
              <a:t>(RTV/AGD, budowlane, meblowe) </a:t>
            </a:r>
            <a:r>
              <a:rPr lang="pl-PL" dirty="0"/>
              <a:t>z prywatnymi kierowcami i firmami kurierskimi w modelu on-demand </a:t>
            </a:r>
            <a:r>
              <a:rPr lang="pl-PL" i="1" dirty="0"/>
              <a:t>(na żądanie).  </a:t>
            </a:r>
          </a:p>
          <a:p>
            <a:pPr>
              <a:lnSpc>
                <a:spcPct val="90000"/>
              </a:lnSpc>
            </a:pPr>
            <a:endParaRPr lang="pl-PL" b="1" dirty="0"/>
          </a:p>
          <a:p>
            <a:pPr>
              <a:lnSpc>
                <a:spcPct val="90000"/>
              </a:lnSpc>
            </a:pPr>
            <a:r>
              <a:rPr lang="pl-PL" b="1" dirty="0"/>
              <a:t>Cel:</a:t>
            </a:r>
            <a:r>
              <a:rPr lang="pl-PL" dirty="0"/>
              <a:t> Umożliwienie klientowi otrzymania zakupionego towaru w czasie poniżej 60 minut, bez konieczności posiadania własnego samochodu i wychodzenia z domu. 	</a:t>
            </a:r>
          </a:p>
        </p:txBody>
      </p:sp>
    </p:spTree>
    <p:extLst>
      <p:ext uri="{BB962C8B-B14F-4D97-AF65-F5344CB8AC3E}">
        <p14:creationId xmlns:p14="http://schemas.microsoft.com/office/powerpoint/2010/main" val="693930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60FB-F7F5-BBBB-2CE7-AAF326E5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Elevator Speech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93933-2017-8B42-063E-AF9E72FE2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0" y="2419349"/>
            <a:ext cx="11430000" cy="3632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1800" b="1" dirty="0"/>
              <a:t>Bring</a:t>
            </a:r>
            <a:r>
              <a:rPr lang="en-US" sz="1800" b="1" dirty="0"/>
              <a:t>I</a:t>
            </a:r>
            <a:r>
              <a:rPr lang="pl-PL" sz="1800" b="1" dirty="0"/>
              <a:t>t </a:t>
            </a:r>
            <a:r>
              <a:rPr lang="pl-PL" sz="1800" dirty="0"/>
              <a:t>to aplikacja mobilna, która w mniej niż 60 minut dostarcza zakupy ze sklepów stacjonarnych prosto pod drzwi klienta. Łączymy osoby kupujące duże lub ciężkie produkty z prywatnymi kierowcami i firmami kurierskimi w modelu on‑demand – tak prostym i intuicyjnym jak Uber. Dzięki Bringit nie musisz mieć samochodu ani czekać na kuriera przez całą dobę. Wystarczy paragon i wybór odpowiedniego pojazdu, a nasz algorytm natychmiast znajdzie kierowcę, który odbierze i dostarczy Twój towar. Zarabiamy poprzez prowizję od zleceń, dynamiczne ceny w godzinach szczytu oraz partnerstwa B2B ze sklepami, które mogą zintegrować naszą usługę bezpośrednio przy kasie. Bringit = szybka, wygodna i bezpieczna dostawa zakupów ze sklepu do domu</a:t>
            </a:r>
          </a:p>
        </p:txBody>
      </p:sp>
    </p:spTree>
    <p:extLst>
      <p:ext uri="{BB962C8B-B14F-4D97-AF65-F5344CB8AC3E}">
        <p14:creationId xmlns:p14="http://schemas.microsoft.com/office/powerpoint/2010/main" val="64419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4210-7A26-3382-0A06-271E5C4F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Jak to działa? </a:t>
            </a:r>
            <a:r>
              <a:rPr lang="pl-PL" sz="2400" i="1" dirty="0"/>
              <a:t>(Proces Użytkownika)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87CE8-226B-E7BB-4647-78619EA4D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735418"/>
            <a:ext cx="11715750" cy="4195481"/>
          </a:xfrm>
        </p:spPr>
        <p:txBody>
          <a:bodyPr>
            <a:normAutofit/>
          </a:bodyPr>
          <a:lstStyle/>
          <a:p>
            <a:endParaRPr lang="pl-PL" sz="1600" b="1" dirty="0"/>
          </a:p>
          <a:p>
            <a:pPr marL="0" indent="0">
              <a:buNone/>
            </a:pPr>
            <a:r>
              <a:rPr lang="pl-PL" b="1" dirty="0"/>
              <a:t>Proces musi być maksymalnie prosty, aby konkurować z wygodą np. Ubera</a:t>
            </a:r>
          </a:p>
          <a:p>
            <a:pPr marL="0" indent="0">
              <a:buNone/>
            </a:pPr>
            <a:endParaRPr lang="pl-PL" sz="1600" dirty="0"/>
          </a:p>
          <a:p>
            <a:r>
              <a:rPr lang="pl-PL" sz="1600" b="1" dirty="0"/>
              <a:t>Zakup:</a:t>
            </a:r>
            <a:r>
              <a:rPr lang="pl-PL" sz="1600" dirty="0"/>
              <a:t> </a:t>
            </a:r>
            <a:r>
              <a:rPr lang="pl-PL" sz="1500" dirty="0"/>
              <a:t>Klient kupuje telewizor/monitor w sklepie stacjonarnym </a:t>
            </a:r>
            <a:r>
              <a:rPr lang="pl-PL" sz="1500" i="1" dirty="0"/>
              <a:t>(np. Media Expert) </a:t>
            </a:r>
            <a:r>
              <a:rPr lang="pl-PL" sz="1500" dirty="0"/>
              <a:t>i wybiera opcję </a:t>
            </a:r>
            <a:r>
              <a:rPr lang="pl-PL" sz="1500" i="1" dirty="0"/>
              <a:t>„Odbiór osobisty”.</a:t>
            </a:r>
            <a:endParaRPr lang="pl-PL" sz="1600" i="1" dirty="0"/>
          </a:p>
          <a:p>
            <a:r>
              <a:rPr lang="pl-PL" sz="1600" b="1" dirty="0"/>
              <a:t>Zlecenie:</a:t>
            </a:r>
            <a:r>
              <a:rPr lang="pl-PL" sz="1600" dirty="0"/>
              <a:t> </a:t>
            </a:r>
            <a:r>
              <a:rPr lang="pl-PL" sz="1500" dirty="0"/>
              <a:t>Klient otwiera Twoją aplikację.</a:t>
            </a:r>
          </a:p>
          <a:p>
            <a:r>
              <a:rPr lang="pl-PL" sz="1600" b="1" dirty="0"/>
              <a:t>Weryfikacja:</a:t>
            </a:r>
            <a:r>
              <a:rPr lang="pl-PL" sz="1600" dirty="0"/>
              <a:t> </a:t>
            </a:r>
            <a:r>
              <a:rPr lang="pl-PL" sz="1500" dirty="0"/>
              <a:t>Klient robi zdjęcie paragonu/faktury lub wgrywa plik PDF z potwierdzeniem zamówienia </a:t>
            </a:r>
            <a:r>
              <a:rPr lang="pl-PL" sz="1500" i="1" dirty="0"/>
              <a:t>(to kluczowe dla wydania towaru kierowcy)</a:t>
            </a:r>
            <a:r>
              <a:rPr lang="pl-PL" sz="1500" dirty="0"/>
              <a:t>.</a:t>
            </a:r>
            <a:endParaRPr lang="pl-PL" sz="1600" dirty="0"/>
          </a:p>
          <a:p>
            <a:r>
              <a:rPr lang="pl-PL" sz="1600" b="1" dirty="0"/>
              <a:t>Wybór pojazdu:</a:t>
            </a:r>
            <a:r>
              <a:rPr lang="pl-PL" sz="1600" dirty="0"/>
              <a:t> </a:t>
            </a:r>
            <a:r>
              <a:rPr lang="pl-PL" sz="1500" dirty="0"/>
              <a:t>Klient określa gabaryt </a:t>
            </a:r>
            <a:r>
              <a:rPr lang="pl-PL" sz="1500" i="1" dirty="0"/>
              <a:t>(np. „Mała paczka”, „Bagażnik osobowy”, „Dostawczak”)</a:t>
            </a:r>
            <a:r>
              <a:rPr lang="pl-PL" sz="1500" dirty="0"/>
              <a:t>.</a:t>
            </a:r>
            <a:endParaRPr lang="pl-PL" sz="1700" dirty="0"/>
          </a:p>
          <a:p>
            <a:r>
              <a:rPr lang="pl-PL" sz="1600" b="1" dirty="0"/>
              <a:t>Dostawa:</a:t>
            </a:r>
            <a:r>
              <a:rPr lang="pl-PL" sz="1600" dirty="0"/>
              <a:t> </a:t>
            </a:r>
            <a:r>
              <a:rPr lang="pl-PL" sz="1500" dirty="0"/>
              <a:t>Algorytm łączy klienta z najbliższym kierowcą. Kierowca jedzie do punktu odbioru towaru w sklepie.</a:t>
            </a:r>
          </a:p>
          <a:p>
            <a:r>
              <a:rPr lang="pl-PL" sz="1600" b="1" dirty="0"/>
              <a:t>Odbiór :</a:t>
            </a:r>
            <a:r>
              <a:rPr lang="pl-PL" sz="1600" dirty="0"/>
              <a:t> </a:t>
            </a:r>
            <a:r>
              <a:rPr lang="pl-PL" sz="1500" dirty="0"/>
              <a:t>Kierowca pokazuje w punkcie odbioru cyfrowe upoważnienie i skan paragonu </a:t>
            </a:r>
            <a:r>
              <a:rPr lang="pl-PL" sz="1500" i="1" dirty="0"/>
              <a:t>(dostępne w aplikacji kierowcy).</a:t>
            </a:r>
          </a:p>
          <a:p>
            <a:r>
              <a:rPr lang="pl-PL" sz="1600" b="1" dirty="0"/>
              <a:t>Finalizacja:</a:t>
            </a:r>
            <a:r>
              <a:rPr lang="pl-PL" sz="1600" dirty="0"/>
              <a:t> </a:t>
            </a:r>
            <a:r>
              <a:rPr lang="pl-PL" sz="1500" dirty="0"/>
              <a:t>Kierowca dostarcza towar pod drzwi.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6948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7F72D-E57F-3C5D-B614-38F684E8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Model Biznesowy </a:t>
            </a:r>
            <a:r>
              <a:rPr lang="pl-PL" sz="2400" i="1" dirty="0"/>
              <a:t>(Jak zarabiamy?)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D75C5-93EC-04D8-3747-2BCABEB2D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1" y="2052918"/>
            <a:ext cx="11296650" cy="4443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b="1" dirty="0"/>
              <a:t>Możemy czerpać zyski z trzech źródeł:</a:t>
            </a:r>
          </a:p>
          <a:p>
            <a:endParaRPr lang="pl-PL" dirty="0"/>
          </a:p>
          <a:p>
            <a:r>
              <a:rPr lang="pl-PL" sz="1800" b="1" dirty="0"/>
              <a:t>Prowizja od zlecenia:</a:t>
            </a:r>
            <a:r>
              <a:rPr lang="pl-PL" sz="1600" dirty="0"/>
              <a:t> Podobnie jak w Uberze, pobierasz np. 20-25% od kwoty, którą płaci użytkownik za przejazd.</a:t>
            </a:r>
          </a:p>
          <a:p>
            <a:endParaRPr lang="pl-PL" dirty="0"/>
          </a:p>
          <a:p>
            <a:r>
              <a:rPr lang="pl-PL" sz="1800" b="1" dirty="0"/>
              <a:t>Dynamiczne Ceny </a:t>
            </a:r>
            <a:r>
              <a:rPr lang="pl-PL" sz="1800" b="1" i="1" dirty="0"/>
              <a:t>(Surge Pricing)</a:t>
            </a:r>
            <a:r>
              <a:rPr lang="pl-PL" sz="1800" b="1" dirty="0"/>
              <a:t>:</a:t>
            </a:r>
            <a:r>
              <a:rPr lang="pl-PL" sz="1800" dirty="0"/>
              <a:t> </a:t>
            </a:r>
            <a:r>
              <a:rPr lang="pl-PL" sz="1600" dirty="0"/>
              <a:t>Wyższe stawki w godzinach szczytu lub przy dużym zapotrzebowaniu </a:t>
            </a:r>
          </a:p>
          <a:p>
            <a:pPr marL="0" indent="0">
              <a:buNone/>
            </a:pPr>
            <a:r>
              <a:rPr lang="pl-PL" sz="1600" dirty="0"/>
              <a:t>      </a:t>
            </a:r>
            <a:r>
              <a:rPr lang="pl-PL" sz="1600" i="1" dirty="0"/>
              <a:t>(np. BlackFriday, okres przedświąteczny).</a:t>
            </a:r>
          </a:p>
          <a:p>
            <a:pPr marL="0" indent="0">
              <a:buNone/>
            </a:pPr>
            <a:endParaRPr lang="pl-PL" i="1" dirty="0"/>
          </a:p>
          <a:p>
            <a:r>
              <a:rPr lang="pl-PL" dirty="0"/>
              <a:t> </a:t>
            </a:r>
            <a:r>
              <a:rPr lang="pl-PL" sz="1800" b="1" dirty="0"/>
              <a:t>Partnerstwa B2B:</a:t>
            </a:r>
            <a:r>
              <a:rPr lang="pl-PL" sz="1600" dirty="0"/>
              <a:t> Docelowo sklepy </a:t>
            </a:r>
            <a:r>
              <a:rPr lang="pl-PL" sz="1600" i="1" dirty="0"/>
              <a:t>(np. Media Expert, Castorama) </a:t>
            </a:r>
            <a:r>
              <a:rPr lang="pl-PL" sz="1600" dirty="0"/>
              <a:t>mogą zintegrować Twój przycisk </a:t>
            </a:r>
          </a:p>
          <a:p>
            <a:pPr marL="0" indent="0">
              <a:buNone/>
            </a:pPr>
            <a:r>
              <a:rPr lang="pl-PL" sz="1600" dirty="0"/>
              <a:t>      "Zamów natychmiastową dostawę" bezpośrednio na swojej stronie internetowej lub przy kasie.</a:t>
            </a:r>
          </a:p>
        </p:txBody>
      </p:sp>
    </p:spTree>
    <p:extLst>
      <p:ext uri="{BB962C8B-B14F-4D97-AF65-F5344CB8AC3E}">
        <p14:creationId xmlns:p14="http://schemas.microsoft.com/office/powerpoint/2010/main" val="310798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CDBD7-EEDD-1226-BBB4-4A31E09C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 b="1" dirty="0"/>
              <a:t>Analiza Rynku i Grupa Docelowa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C558-70AC-98EC-0527-E19DC3410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2052918"/>
            <a:ext cx="11703050" cy="4195481"/>
          </a:xfrm>
        </p:spPr>
        <p:txBody>
          <a:bodyPr/>
          <a:lstStyle/>
          <a:p>
            <a:pPr marL="0" indent="0">
              <a:buNone/>
            </a:pPr>
            <a:r>
              <a:rPr lang="pl-PL" sz="2400" b="1" dirty="0"/>
              <a:t>Do kogo kieruje usługę?</a:t>
            </a:r>
          </a:p>
          <a:p>
            <a:pPr marL="0" indent="0">
              <a:buNone/>
            </a:pPr>
            <a:endParaRPr lang="pl-PL" dirty="0"/>
          </a:p>
          <a:p>
            <a:r>
              <a:rPr lang="pl-PL" b="1" dirty="0"/>
              <a:t>Osoby bez samochodu:</a:t>
            </a:r>
            <a:r>
              <a:rPr lang="pl-PL" dirty="0"/>
              <a:t> </a:t>
            </a:r>
            <a:r>
              <a:rPr lang="pl-PL" sz="1800" dirty="0"/>
              <a:t>Studenci, mieszkańcy centrów miast, osoby starsze.</a:t>
            </a:r>
          </a:p>
          <a:p>
            <a:endParaRPr lang="pl-PL" sz="1800" dirty="0"/>
          </a:p>
          <a:p>
            <a:r>
              <a:rPr lang="pl-PL" b="1" dirty="0"/>
              <a:t>Osoby bez „dużego” samochodu:</a:t>
            </a:r>
            <a:r>
              <a:rPr lang="pl-PL" dirty="0"/>
              <a:t> </a:t>
            </a:r>
            <a:r>
              <a:rPr lang="pl-PL" sz="1800" dirty="0"/>
              <a:t>Ktoś kupił 65-calowy telewizor, który nie zmieści się do sedana taka osoba będzie mogła skorzytsac z naszej usługi.</a:t>
            </a:r>
          </a:p>
          <a:p>
            <a:endParaRPr lang="pl-PL" sz="1800" dirty="0"/>
          </a:p>
          <a:p>
            <a:r>
              <a:rPr lang="pl-PL" b="1" dirty="0"/>
              <a:t>Niecierepliwi:</a:t>
            </a:r>
            <a:r>
              <a:rPr lang="pl-PL" dirty="0"/>
              <a:t> </a:t>
            </a:r>
            <a:r>
              <a:rPr lang="pl-PL" sz="1800" dirty="0"/>
              <a:t>Klienci, którzy potrzebują sprzętu do pracy natychmiast </a:t>
            </a:r>
            <a:r>
              <a:rPr lang="pl-PL" sz="1800" i="1" dirty="0"/>
              <a:t>(np. awaria monitora w biurze) </a:t>
            </a:r>
            <a:r>
              <a:rPr lang="pl-PL" sz="1800" dirty="0"/>
              <a:t>i nie mogą czekać na kuriera 24h.</a:t>
            </a:r>
          </a:p>
          <a:p>
            <a:pPr marL="0" indent="0">
              <a:buNone/>
            </a:pPr>
            <a:endParaRPr lang="pl-PL" sz="1800" dirty="0"/>
          </a:p>
          <a:p>
            <a:pPr marL="0" indent="0">
              <a:buNone/>
            </a:pPr>
            <a:endParaRPr lang="pl-PL" sz="1800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84008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2AEE-6DDB-FB61-55EF-4BB09F74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b="1" dirty="0"/>
              <a:t>Wyzwania Operacyjne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F5A9F-B8DF-2DD2-CE44-68AFAAB4E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2052918"/>
            <a:ext cx="11531600" cy="4195481"/>
          </a:xfrm>
        </p:spPr>
        <p:txBody>
          <a:bodyPr/>
          <a:lstStyle/>
          <a:p>
            <a:endParaRPr lang="pl-PL" sz="1800" b="1" dirty="0"/>
          </a:p>
          <a:p>
            <a:r>
              <a:rPr lang="pl-PL" b="1" dirty="0"/>
              <a:t>Upoważnienie</a:t>
            </a:r>
            <a:r>
              <a:rPr lang="pl-PL" sz="1800" b="1" dirty="0"/>
              <a:t> do odbioru:</a:t>
            </a:r>
            <a:r>
              <a:rPr lang="pl-PL" sz="1800" dirty="0"/>
              <a:t> Musimy stworzyć prawny mechanizm </a:t>
            </a:r>
            <a:r>
              <a:rPr lang="pl-PL" sz="1800" i="1" dirty="0"/>
              <a:t>(w regulaminie aplikacji</a:t>
            </a:r>
            <a:r>
              <a:rPr lang="pl-PL" sz="1800" dirty="0"/>
              <a:t>), w którym użytkownik udziela kierowcy jednorazowego pełnomocnictwa do odbioru towaru w jego imieniu. Sklep musi chcieć wydać towar osobie trzeciej na podstawie zdjęcia paragonu w aplikacji.</a:t>
            </a:r>
          </a:p>
          <a:p>
            <a:endParaRPr lang="pl-PL" sz="1800" dirty="0"/>
          </a:p>
          <a:p>
            <a:r>
              <a:rPr lang="pl-PL" b="1" dirty="0"/>
              <a:t>Ubezpieczenie:</a:t>
            </a:r>
            <a:r>
              <a:rPr lang="pl-PL" dirty="0"/>
              <a:t> </a:t>
            </a:r>
            <a:r>
              <a:rPr lang="pl-PL" sz="1800" i="1" u="sng" dirty="0"/>
              <a:t>Co jeśli kierowca upuści monitor za 4000 zł?</a:t>
            </a:r>
            <a:r>
              <a:rPr lang="pl-PL" sz="1800" i="1" dirty="0"/>
              <a:t> </a:t>
            </a:r>
            <a:r>
              <a:rPr lang="pl-PL" sz="1800" dirty="0"/>
              <a:t>Konieczne jest ubezpieczenie OC przewoźnika zintegrowane z aplikacją.</a:t>
            </a:r>
          </a:p>
          <a:p>
            <a:endParaRPr lang="pl-PL" sz="1600" dirty="0"/>
          </a:p>
          <a:p>
            <a:r>
              <a:rPr lang="pl-PL" b="1" dirty="0"/>
              <a:t>Weryfikacja gabarytów:</a:t>
            </a:r>
            <a:r>
              <a:rPr lang="pl-PL" dirty="0"/>
              <a:t> </a:t>
            </a:r>
            <a:r>
              <a:rPr lang="pl-PL" sz="1800" dirty="0"/>
              <a:t>Użytkownicy mogą kłamać lub nie wiedzieć, czy sofa zmieści się do Opla Astry. Aplikacja musi sugerować odpowiedni pojazd na podstawie kategorii towaru.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5067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6099-C4D5-97D8-F018-07F4AFD0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 b="1" dirty="0"/>
              <a:t>Strategia Marketingowa </a:t>
            </a:r>
            <a:r>
              <a:rPr lang="pl-PL" sz="2800" i="1" dirty="0"/>
              <a:t>(Go-to-Market)</a:t>
            </a:r>
            <a:endParaRPr lang="pl-PL" sz="32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A543C-900C-1533-D81B-92658F742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2052918"/>
            <a:ext cx="11061700" cy="4195481"/>
          </a:xfrm>
        </p:spPr>
        <p:txBody>
          <a:bodyPr/>
          <a:lstStyle/>
          <a:p>
            <a:endParaRPr lang="pl-PL" b="1" dirty="0"/>
          </a:p>
          <a:p>
            <a:endParaRPr lang="pl-PL" b="1" dirty="0"/>
          </a:p>
          <a:p>
            <a:r>
              <a:rPr lang="pl-PL" b="1" dirty="0"/>
              <a:t>Geotargetowanie:</a:t>
            </a:r>
            <a:r>
              <a:rPr lang="pl-PL" dirty="0"/>
              <a:t> </a:t>
            </a:r>
            <a:r>
              <a:rPr lang="pl-PL" sz="1800" dirty="0"/>
              <a:t>Reklamy w Google/Social Media wyświetlane osobom przebywającym fizycznie w pobliżu dużych parków handlowych.</a:t>
            </a:r>
          </a:p>
          <a:p>
            <a:endParaRPr lang="pl-PL" sz="1800" dirty="0"/>
          </a:p>
          <a:p>
            <a:r>
              <a:rPr lang="pl-PL" b="1" dirty="0"/>
              <a:t>Współpraca lokalna:</a:t>
            </a:r>
            <a:r>
              <a:rPr lang="pl-PL" dirty="0"/>
              <a:t> </a:t>
            </a:r>
            <a:r>
              <a:rPr lang="pl-PL" sz="1800" dirty="0"/>
              <a:t>Naklejki lub ulotki przy punktach "Odbiór towaru" w sklepach </a:t>
            </a:r>
          </a:p>
          <a:p>
            <a:pPr marL="0" indent="0">
              <a:buNone/>
            </a:pPr>
            <a:r>
              <a:rPr lang="pl-PL" sz="1800" dirty="0"/>
              <a:t>     </a:t>
            </a:r>
            <a:r>
              <a:rPr lang="pl-PL" sz="1800" i="1" dirty="0"/>
              <a:t>(nawet nieoficjalnie na początku, by sprawdzić popyt)</a:t>
            </a:r>
            <a:r>
              <a:rPr lang="pl-PL" sz="1800" dirty="0"/>
              <a:t>.</a:t>
            </a:r>
          </a:p>
          <a:p>
            <a:endParaRPr lang="pl-PL" sz="1800" dirty="0"/>
          </a:p>
          <a:p>
            <a:r>
              <a:rPr lang="pl-PL" b="1" dirty="0"/>
              <a:t>SEO:</a:t>
            </a:r>
            <a:r>
              <a:rPr lang="pl-PL" dirty="0"/>
              <a:t> </a:t>
            </a:r>
            <a:r>
              <a:rPr lang="pl-PL" sz="1800" dirty="0"/>
              <a:t>Pozycjonowanie na frazy typu "tani transport mebli", "taxi bagażowe cennik".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4074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CB7D-9C3C-E421-6F04-3D4DDBB9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Koszty początkowe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3A714BF-C0C6-FE08-4D42-FE60B000A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1828700"/>
              </p:ext>
            </p:extLst>
          </p:nvPr>
        </p:nvGraphicFramePr>
        <p:xfrm>
          <a:off x="1608138" y="2411412"/>
          <a:ext cx="8975724" cy="2846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425">
                  <a:extLst>
                    <a:ext uri="{9D8B030D-6E8A-4147-A177-3AD203B41FA5}">
                      <a16:colId xmlns:a16="http://schemas.microsoft.com/office/drawing/2014/main" val="1525073122"/>
                    </a:ext>
                  </a:extLst>
                </a:gridCol>
                <a:gridCol w="4394125">
                  <a:extLst>
                    <a:ext uri="{9D8B030D-6E8A-4147-A177-3AD203B41FA5}">
                      <a16:colId xmlns:a16="http://schemas.microsoft.com/office/drawing/2014/main" val="1486846537"/>
                    </a:ext>
                  </a:extLst>
                </a:gridCol>
                <a:gridCol w="2543174">
                  <a:extLst>
                    <a:ext uri="{9D8B030D-6E8A-4147-A177-3AD203B41FA5}">
                      <a16:colId xmlns:a16="http://schemas.microsoft.com/office/drawing/2014/main" val="2311878336"/>
                    </a:ext>
                  </a:extLst>
                </a:gridCol>
              </a:tblGrid>
              <a:tr h="44116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Kategoria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Opis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Szacowany Koszt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713499"/>
                  </a:ext>
                </a:extLst>
              </a:tr>
              <a:tr h="761454">
                <a:tc>
                  <a:txBody>
                    <a:bodyPr/>
                    <a:lstStyle/>
                    <a:p>
                      <a:r>
                        <a:rPr lang="pl-PL" dirty="0"/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Budowa aplikacji (Android/iOS) + Panel Administratora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50 000 - 150 000 PLN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595708"/>
                  </a:ext>
                </a:extLst>
              </a:tr>
              <a:tr h="761454">
                <a:tc>
                  <a:txBody>
                    <a:bodyPr/>
                    <a:lstStyle/>
                    <a:p>
                      <a:r>
                        <a:rPr lang="pl-PL" dirty="0"/>
                        <a:t>Prawne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Regulaminy, RODO, Wzory pełnomocnictw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3 000 - 5 000 PLN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014199"/>
                  </a:ext>
                </a:extLst>
              </a:tr>
              <a:tr h="441160">
                <a:tc>
                  <a:txBody>
                    <a:bodyPr/>
                    <a:lstStyle/>
                    <a:p>
                      <a:r>
                        <a:rPr lang="pl-PL" dirty="0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Budżet startowy na reklamy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5 000 - 10 000 PLN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049085"/>
                  </a:ext>
                </a:extLst>
              </a:tr>
              <a:tr h="441160">
                <a:tc>
                  <a:txBody>
                    <a:bodyPr/>
                    <a:lstStyle/>
                    <a:p>
                      <a:r>
                        <a:rPr lang="pl-PL" dirty="0"/>
                        <a:t>Infrastruktura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Serwery, mapy Google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500 - 1000 PLN / msc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608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885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</TotalTime>
  <Words>700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PowerPoint Presentation</vt:lpstr>
      <vt:lpstr>PowerPoint Presentation</vt:lpstr>
      <vt:lpstr>Elevator Speech</vt:lpstr>
      <vt:lpstr>Jak to działa? (Proces Użytkownika)</vt:lpstr>
      <vt:lpstr>Model Biznesowy (Jak zarabiamy?)</vt:lpstr>
      <vt:lpstr>Analiza Rynku i Grupa Docelowa</vt:lpstr>
      <vt:lpstr>Wyzwania Operacyjne</vt:lpstr>
      <vt:lpstr>Strategia Marketingowa (Go-to-Market)</vt:lpstr>
      <vt:lpstr>Koszty początkowe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Dawid Drożdż</dc:creator>
  <cp:lastModifiedBy>Dawid Drożdż</cp:lastModifiedBy>
  <cp:revision>3</cp:revision>
  <dcterms:created xsi:type="dcterms:W3CDTF">2025-12-09T12:04:30Z</dcterms:created>
  <dcterms:modified xsi:type="dcterms:W3CDTF">2025-12-09T22:09:07Z</dcterms:modified>
</cp:coreProperties>
</file>